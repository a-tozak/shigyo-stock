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いまの姿を見せるページです。道具の名前は実際に使っているものに差しかえます。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どの話をどの道具でするかを決める表です。グループで決めた形に書きかえます。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誰から誰へ報告するかを見せる図です。役職と名前を差しかえます。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1日のうち、いつ何を伝えるかを決めるページです。時刻と中身を書きかえます。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受付から入金の確認までを一本の流れにした図です。前岡さんとの話で出た形です。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グループで決めた連絡の決まりを5つまで書きます。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しめのページです。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わり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© 石山通りグループ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題名"/>
          <p:cNvSpPr txBox="1"/>
          <p:nvPr/>
        </p:nvSpPr>
        <p:spPr>
          <a:xfrm>
            <a:off x="548640" y="16459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社内の連絡の流れ</a:t>
            </a:r>
            <a:endParaRPr lang="en-US" sz="4000" dirty="0"/>
          </a:p>
        </p:txBody>
      </p:sp>
      <p:sp>
        <p:nvSpPr>
          <p:cNvPr id="3" name="日付と場所"/>
          <p:cNvSpPr txBox="1"/>
          <p:nvPr/>
        </p:nvSpPr>
        <p:spPr>
          <a:xfrm>
            <a:off x="548640" y="40690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［グループの名前］　［作った日］</a:t>
            </a:r>
            <a:endParaRPr lang="en-US" sz="1800" dirty="0"/>
          </a:p>
        </p:txBody>
      </p:sp>
      <p:pic>
        <p:nvPicPr>
          <p:cNvPr id="4" name="絵_chousashi-asa-uchiawase" descr="chousashi-asa-uchiaw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98320"/>
            <a:ext cx="475488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いまは連絡の道具が5つに分かれています</a:t>
            </a:r>
            <a:endParaRPr lang="en-US" sz="3200" dirty="0"/>
          </a:p>
        </p:txBody>
      </p:sp>
      <p:sp>
        <p:nvSpPr>
          <p:cNvPr id="4" name="道具1"/>
          <p:cNvSpPr/>
          <p:nvPr/>
        </p:nvSpPr>
        <p:spPr>
          <a:xfrm>
            <a:off x="914400" y="1645920"/>
            <a:ext cx="310896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4300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案件の管理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［例）権システム］</a:t>
            </a:r>
            <a:endParaRPr lang="en-US" sz="1500" dirty="0"/>
          </a:p>
        </p:txBody>
      </p:sp>
      <p:sp>
        <p:nvSpPr>
          <p:cNvPr id="7" name="道具2"/>
          <p:cNvSpPr/>
          <p:nvPr/>
        </p:nvSpPr>
        <p:spPr>
          <a:xfrm>
            <a:off x="4572000" y="1463040"/>
            <a:ext cx="310896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表計算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［例）別のスプレッドシート］</a:t>
            </a:r>
            <a:endParaRPr lang="en-US" sz="1500" dirty="0"/>
          </a:p>
        </p:txBody>
      </p:sp>
      <p:sp>
        <p:nvSpPr>
          <p:cNvPr id="10" name="道具3"/>
          <p:cNvSpPr/>
          <p:nvPr/>
        </p:nvSpPr>
        <p:spPr>
          <a:xfrm>
            <a:off x="8321040" y="1737360"/>
            <a:ext cx="310896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チャット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［例）チャットワーク］</a:t>
            </a:r>
            <a:endParaRPr lang="en-US" sz="1500" dirty="0"/>
          </a:p>
        </p:txBody>
      </p:sp>
      <p:sp>
        <p:nvSpPr>
          <p:cNvPr id="13" name="道具4"/>
          <p:cNvSpPr/>
          <p:nvPr/>
        </p:nvSpPr>
        <p:spPr>
          <a:xfrm>
            <a:off x="2377440" y="3931920"/>
            <a:ext cx="310896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0604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電話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［代表電話と携帯］</a:t>
            </a:r>
            <a:endParaRPr lang="en-US" sz="1500" dirty="0"/>
          </a:p>
        </p:txBody>
      </p:sp>
      <p:sp>
        <p:nvSpPr>
          <p:cNvPr id="16" name="道具5"/>
          <p:cNvSpPr/>
          <p:nvPr/>
        </p:nvSpPr>
        <p:spPr>
          <a:xfrm>
            <a:off x="6766560" y="4023360"/>
            <a:ext cx="310896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516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メール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4800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［お客さまと役所］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道具の使い分け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  <a:gridCol w="3044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道具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使うとき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返事の目安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案件の管理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案件の進み具合と期限を書く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［その日のうちに更新］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チャット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社内の相談と連絡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［2時間以内］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電話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急ぎのときとお客さまから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［その場で］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メール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お客さまや役所への書面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［翌日まで］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朝の打合せ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今日の予定と困りごと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［毎朝◯時］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報告の流れ</a:t>
            </a:r>
            <a:endParaRPr lang="en-US" sz="3200" dirty="0"/>
          </a:p>
        </p:txBody>
      </p:sp>
      <p:sp>
        <p:nvSpPr>
          <p:cNvPr id="4" name="報告1"/>
          <p:cNvSpPr/>
          <p:nvPr/>
        </p:nvSpPr>
        <p:spPr>
          <a:xfrm>
            <a:off x="548640" y="1463040"/>
            <a:ext cx="51206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担当者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4630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案件を進める</a:t>
            </a:r>
            <a:endParaRPr lang="en-US" sz="1500" dirty="0"/>
          </a:p>
        </p:txBody>
      </p:sp>
      <p:sp>
        <p:nvSpPr>
          <p:cNvPr id="7" name="下向き矢印1"/>
          <p:cNvSpPr/>
          <p:nvPr/>
        </p:nvSpPr>
        <p:spPr>
          <a:xfrm>
            <a:off x="2880360" y="2651760"/>
            <a:ext cx="457200" cy="36576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報告2"/>
          <p:cNvSpPr/>
          <p:nvPr/>
        </p:nvSpPr>
        <p:spPr>
          <a:xfrm>
            <a:off x="548640" y="3017520"/>
            <a:ext cx="51206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0175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チームのリーダー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30175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まとめて確かめる</a:t>
            </a:r>
            <a:endParaRPr lang="en-US" sz="1500" dirty="0"/>
          </a:p>
        </p:txBody>
      </p:sp>
      <p:sp>
        <p:nvSpPr>
          <p:cNvPr id="11" name="下向き矢印2"/>
          <p:cNvSpPr/>
          <p:nvPr/>
        </p:nvSpPr>
        <p:spPr>
          <a:xfrm>
            <a:off x="2880360" y="4206240"/>
            <a:ext cx="457200" cy="36576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報告3"/>
          <p:cNvSpPr/>
          <p:nvPr/>
        </p:nvSpPr>
        <p:spPr>
          <a:xfrm>
            <a:off x="548640" y="4572000"/>
            <a:ext cx="51206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5720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4572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大きな判断をする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6459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迷ったら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まずリーダーに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ひとこと</a:t>
            </a:r>
            <a:endParaRPr lang="en-US" sz="2400" dirty="0"/>
          </a:p>
        </p:txBody>
      </p:sp>
      <p:pic>
        <p:nvPicPr>
          <p:cNvPr id="16" name="絵_kyoutsu-renkei-kaigi" descr="kyoutsu-renkei-kaig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3200400"/>
            <a:ext cx="4251960" cy="2834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1日の連絡のリズム</a:t>
            </a:r>
            <a:endParaRPr lang="en-US" sz="3200" dirty="0"/>
          </a:p>
        </p:txBody>
      </p:sp>
      <p:sp>
        <p:nvSpPr>
          <p:cNvPr id="4" name="時の線"/>
          <p:cNvSpPr/>
          <p:nvPr/>
        </p:nvSpPr>
        <p:spPr>
          <a:xfrm>
            <a:off x="914400" y="2240280"/>
            <a:ext cx="1036289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時刻の点1"/>
          <p:cNvSpPr/>
          <p:nvPr/>
        </p:nvSpPr>
        <p:spPr>
          <a:xfrm>
            <a:off x="2092909" y="2057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［9:00］</a:t>
            </a:r>
            <a:endParaRPr lang="en-US" sz="2000" dirty="0"/>
          </a:p>
        </p:txBody>
      </p:sp>
      <p:sp>
        <p:nvSpPr>
          <p:cNvPr id="7" name="時刻の台1"/>
          <p:cNvSpPr/>
          <p:nvPr/>
        </p:nvSpPr>
        <p:spPr>
          <a:xfrm>
            <a:off x="548640" y="2743200"/>
            <a:ext cx="345429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01752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朝の打合せ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今日の予定と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困りごとを出す</a:t>
            </a:r>
            <a:endParaRPr lang="en-US" sz="1600" dirty="0"/>
          </a:p>
        </p:txBody>
      </p:sp>
      <p:sp>
        <p:nvSpPr>
          <p:cNvPr id="10" name="時刻の点2"/>
          <p:cNvSpPr/>
          <p:nvPr/>
        </p:nvSpPr>
        <p:spPr>
          <a:xfrm>
            <a:off x="5912968" y="2057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68698" y="14630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［12:00］</a:t>
            </a:r>
            <a:endParaRPr lang="en-US" sz="2000" dirty="0"/>
          </a:p>
        </p:txBody>
      </p:sp>
      <p:sp>
        <p:nvSpPr>
          <p:cNvPr id="12" name="時刻の台2"/>
          <p:cNvSpPr/>
          <p:nvPr/>
        </p:nvSpPr>
        <p:spPr>
          <a:xfrm>
            <a:off x="4368698" y="2743200"/>
            <a:ext cx="345429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43018" y="301752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昼の確かめ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43018" y="36576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急ぎの案件だけ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チャットで伝える</a:t>
            </a:r>
            <a:endParaRPr lang="en-US" sz="1600" dirty="0"/>
          </a:p>
        </p:txBody>
      </p:sp>
      <p:sp>
        <p:nvSpPr>
          <p:cNvPr id="15" name="時刻の点3"/>
          <p:cNvSpPr/>
          <p:nvPr/>
        </p:nvSpPr>
        <p:spPr>
          <a:xfrm>
            <a:off x="9733026" y="2057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88757" y="14630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［17:30］</a:t>
            </a:r>
            <a:endParaRPr lang="en-US" sz="2000" dirty="0"/>
          </a:p>
        </p:txBody>
      </p:sp>
      <p:sp>
        <p:nvSpPr>
          <p:cNvPr id="17" name="時刻の台3"/>
          <p:cNvSpPr/>
          <p:nvPr/>
        </p:nvSpPr>
        <p:spPr>
          <a:xfrm>
            <a:off x="8188757" y="2743200"/>
            <a:ext cx="345429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63077" y="301752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夕方の報告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463077" y="36576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今日進んだことを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案件の管理に書く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案件の情報を一本につなぐ</a:t>
            </a:r>
            <a:endParaRPr lang="en-US" sz="3200" dirty="0"/>
          </a:p>
        </p:txBody>
      </p:sp>
      <p:sp>
        <p:nvSpPr>
          <p:cNvPr id="4" name="つなぎ1"/>
          <p:cNvSpPr/>
          <p:nvPr/>
        </p:nvSpPr>
        <p:spPr>
          <a:xfrm>
            <a:off x="548640" y="2011680"/>
            <a:ext cx="1962851" cy="2743200"/>
          </a:xfrm>
          <a:prstGeom prst="roundRect">
            <a:avLst>
              <a:gd name="adj" fmla="val 559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番号1"/>
          <p:cNvSpPr/>
          <p:nvPr/>
        </p:nvSpPr>
        <p:spPr>
          <a:xfrm>
            <a:off x="1283178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8317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7799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案件の管理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15970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一度だけ入れる</a:t>
            </a:r>
            <a:endParaRPr lang="en-US" sz="1500" dirty="0"/>
          </a:p>
        </p:txBody>
      </p:sp>
      <p:sp>
        <p:nvSpPr>
          <p:cNvPr id="9" name="矢印1"/>
          <p:cNvSpPr/>
          <p:nvPr/>
        </p:nvSpPr>
        <p:spPr>
          <a:xfrm>
            <a:off x="2584643" y="320040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つなぎ2"/>
          <p:cNvSpPr/>
          <p:nvPr/>
        </p:nvSpPr>
        <p:spPr>
          <a:xfrm>
            <a:off x="2831531" y="2011680"/>
            <a:ext cx="1962851" cy="274320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番号2"/>
          <p:cNvSpPr/>
          <p:nvPr/>
        </p:nvSpPr>
        <p:spPr>
          <a:xfrm>
            <a:off x="3566069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069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922971" y="2286000"/>
            <a:ext cx="17799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チャット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014411" y="3200400"/>
            <a:ext cx="15970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案件ごとに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話をまとめる</a:t>
            </a:r>
            <a:endParaRPr lang="en-US" sz="1500" dirty="0"/>
          </a:p>
        </p:txBody>
      </p:sp>
      <p:sp>
        <p:nvSpPr>
          <p:cNvPr id="15" name="矢印2"/>
          <p:cNvSpPr/>
          <p:nvPr/>
        </p:nvSpPr>
        <p:spPr>
          <a:xfrm>
            <a:off x="4867534" y="320040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つなぎ3"/>
          <p:cNvSpPr/>
          <p:nvPr/>
        </p:nvSpPr>
        <p:spPr>
          <a:xfrm>
            <a:off x="5114422" y="2011680"/>
            <a:ext cx="1962851" cy="274320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番号3"/>
          <p:cNvSpPr/>
          <p:nvPr/>
        </p:nvSpPr>
        <p:spPr>
          <a:xfrm>
            <a:off x="584896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48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205862" y="2286000"/>
            <a:ext cx="17799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お客さまへの連絡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297302" y="3200400"/>
            <a:ext cx="15970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決まった文面で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知らせる</a:t>
            </a:r>
            <a:endParaRPr lang="en-US" sz="1500" dirty="0"/>
          </a:p>
        </p:txBody>
      </p:sp>
      <p:sp>
        <p:nvSpPr>
          <p:cNvPr id="21" name="矢印3"/>
          <p:cNvSpPr/>
          <p:nvPr/>
        </p:nvSpPr>
        <p:spPr>
          <a:xfrm>
            <a:off x="7150425" y="320040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つなぎ4"/>
          <p:cNvSpPr/>
          <p:nvPr/>
        </p:nvSpPr>
        <p:spPr>
          <a:xfrm>
            <a:off x="7397313" y="2011680"/>
            <a:ext cx="1962851" cy="274320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番号4"/>
          <p:cNvSpPr/>
          <p:nvPr/>
        </p:nvSpPr>
        <p:spPr>
          <a:xfrm>
            <a:off x="8131851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1851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488753" y="2286000"/>
            <a:ext cx="17799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請求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580193" y="3200400"/>
            <a:ext cx="15970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案件から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請求書をつくる</a:t>
            </a:r>
            <a:endParaRPr lang="en-US" sz="1500" dirty="0"/>
          </a:p>
        </p:txBody>
      </p:sp>
      <p:sp>
        <p:nvSpPr>
          <p:cNvPr id="27" name="矢印4"/>
          <p:cNvSpPr/>
          <p:nvPr/>
        </p:nvSpPr>
        <p:spPr>
          <a:xfrm>
            <a:off x="9433316" y="3200400"/>
            <a:ext cx="182880" cy="36576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つなぎ5"/>
          <p:cNvSpPr/>
          <p:nvPr/>
        </p:nvSpPr>
        <p:spPr>
          <a:xfrm>
            <a:off x="9680204" y="2011680"/>
            <a:ext cx="1962851" cy="2743200"/>
          </a:xfrm>
          <a:prstGeom prst="roundRect">
            <a:avLst>
              <a:gd name="adj" fmla="val 559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番号5"/>
          <p:cNvSpPr/>
          <p:nvPr/>
        </p:nvSpPr>
        <p:spPr>
          <a:xfrm>
            <a:off x="10414742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41474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771644" y="2286000"/>
            <a:ext cx="17799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入金の確認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863084" y="3200400"/>
            <a:ext cx="15970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確かめて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案件を閉じる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入力は一度だけにして　あとは同じ情報を使い回します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見出し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連絡の決まり</a:t>
            </a:r>
            <a:endParaRPr lang="en-US" sz="3200" dirty="0"/>
          </a:p>
        </p:txBody>
      </p:sp>
      <p:sp>
        <p:nvSpPr>
          <p:cNvPr id="4" name="番号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54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［案件の話はその案件の場所に書く］</a:t>
            </a:r>
            <a:endParaRPr lang="en-US" sz="1900" dirty="0"/>
          </a:p>
        </p:txBody>
      </p:sp>
      <p:sp>
        <p:nvSpPr>
          <p:cNvPr id="7" name="番号2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［お客さまの名前は略さない］</a:t>
            </a:r>
            <a:endParaRPr lang="en-US" sz="1900" dirty="0"/>
          </a:p>
        </p:txBody>
      </p:sp>
      <p:sp>
        <p:nvSpPr>
          <p:cNvPr id="10" name="番号3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［急ぎは電話　そうでなければチャット］</a:t>
            </a:r>
            <a:endParaRPr lang="en-US" sz="1900" dirty="0"/>
          </a:p>
        </p:txBody>
      </p:sp>
      <p:sp>
        <p:nvSpPr>
          <p:cNvPr id="13" name="番号4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［休む日は前の日までに伝える］</a:t>
            </a:r>
            <a:endParaRPr lang="en-US" sz="1900" dirty="0"/>
          </a:p>
        </p:txBody>
      </p:sp>
      <p:sp>
        <p:nvSpPr>
          <p:cNvPr id="16" name="番号5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5029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［分からないことは30分で聞く］</a:t>
            </a:r>
            <a:endParaRPr lang="en-US" sz="1900" dirty="0"/>
          </a:p>
        </p:txBody>
      </p:sp>
      <p:pic>
        <p:nvPicPr>
          <p:cNvPr id="19" name="絵_chousashi-denwa" descr="chousashi-denw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783080"/>
            <a:ext cx="3749040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しめの言葉"/>
          <p:cNvSpPr txBox="1"/>
          <p:nvPr/>
        </p:nvSpPr>
        <p:spPr>
          <a:xfrm>
            <a:off x="548640" y="21945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困ったら声をかけてください</a:t>
            </a:r>
            <a:endParaRPr lang="en-US" sz="4000" dirty="0"/>
          </a:p>
        </p:txBody>
      </p:sp>
      <p:sp>
        <p:nvSpPr>
          <p:cNvPr id="3" name="連絡先"/>
          <p:cNvSpPr txBox="1"/>
          <p:nvPr/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［相談する人の名前］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hiyama">
  <a:themeElements>
    <a:clrScheme name="Ishiyama">
      <a:dk1>
        <a:srgbClr val="1C1C1E"/>
      </a:dk1>
      <a:lt1>
        <a:srgbClr val="FFFFFF"/>
      </a:lt1>
      <a:dk2>
        <a:srgbClr val="1B3A6B"/>
      </a:dk2>
      <a:lt2>
        <a:srgbClr val="EEF0F3"/>
      </a:lt2>
      <a:accent1>
        <a:srgbClr val="1B3A6B"/>
      </a:accent1>
      <a:accent2>
        <a:srgbClr val="D9A43A"/>
      </a:accent2>
      <a:accent3>
        <a:srgbClr val="5A5F66"/>
      </a:accent3>
      <a:accent4>
        <a:srgbClr val="C5C9CF"/>
      </a:accent4>
      <a:accent5>
        <a:srgbClr val="3F5F8F"/>
      </a:accent5>
      <a:accent6>
        <a:srgbClr val="F4E3B5"/>
      </a:accent6>
      <a:hlink>
        <a:srgbClr val="1B3A6B"/>
      </a:hlink>
      <a:folHlink>
        <a:srgbClr val="5A5F66"/>
      </a:folHlink>
    </a:clrScheme>
    <a:fontScheme name="Ishiyama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石山通りグループ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社内の連絡の流れのひな形</dc:title>
  <dc:subject>PptxGenJS Presentation</dc:subject>
  <dc:creator>石山通りグループ</dc:creator>
  <cp:lastModifiedBy>石山通りグループ</cp:lastModifiedBy>
  <cp:revision>1</cp:revision>
  <dcterms:created xsi:type="dcterms:W3CDTF">2026-10-04T06:11:43Z</dcterms:created>
  <dcterms:modified xsi:type="dcterms:W3CDTF">2026-10-04T06:11:43Z</dcterms:modified>
</cp:coreProperties>
</file>