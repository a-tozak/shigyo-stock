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表紙です。どの仕事の流れかを題名に入れます。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仕事の全体を5つの段で見せるページです。新人の方に最初に見せます。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一つの段をくわしく書くページです。段の数だけ、このスライドを写して使います。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全部の段を一覧にした表です。誰がどの段を受け持つかを確かめるときに使います。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よく止まる所と、その手当てを3つ書きます。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段を終えるときに見るチェック表です。項目を差しかえて使います。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しめのページです。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© 石山通りグループ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© 石山通りグループ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わり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© 石山通りグループ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題名"/>
          <p:cNvSpPr txBox="1"/>
          <p:nvPr/>
        </p:nvSpPr>
        <p:spPr>
          <a:xfrm>
            <a:off x="548640" y="16459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［仕事の名前］の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仕事の流れ</a:t>
            </a:r>
            <a:endParaRPr lang="en-US" sz="4000" dirty="0"/>
          </a:p>
        </p:txBody>
      </p:sp>
      <p:sp>
        <p:nvSpPr>
          <p:cNvPr id="3" name="日付と場所"/>
          <p:cNvSpPr txBox="1"/>
          <p:nvPr/>
        </p:nvSpPr>
        <p:spPr>
          <a:xfrm>
            <a:off x="548640" y="40690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［チームの名前］　［作った日］</a:t>
            </a:r>
            <a:endParaRPr lang="en-US" sz="1800" dirty="0"/>
          </a:p>
        </p:txBody>
      </p:sp>
      <p:pic>
        <p:nvPicPr>
          <p:cNvPr id="4" name="絵_kyoutsu-renkei-kaigi" descr="kyoutsu-renkei-kaig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98320"/>
            <a:ext cx="4754880" cy="3169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［仕事の名前］の全体の流れ</a:t>
            </a:r>
            <a:endParaRPr lang="en-US" sz="3200" dirty="0"/>
          </a:p>
        </p:txBody>
      </p:sp>
      <p:sp>
        <p:nvSpPr>
          <p:cNvPr id="4" name="段の台1"/>
          <p:cNvSpPr/>
          <p:nvPr/>
        </p:nvSpPr>
        <p:spPr>
          <a:xfrm>
            <a:off x="548640" y="1554480"/>
            <a:ext cx="1962851" cy="420624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番号1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絵_shiho-uketsuke" descr="shiho-uketsu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91836"/>
            <a:ext cx="1688531" cy="11256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416052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66344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電話と窓口で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依頼を受ける</a:t>
            </a:r>
            <a:endParaRPr lang="en-US" sz="1400" dirty="0"/>
          </a:p>
        </p:txBody>
      </p:sp>
      <p:sp>
        <p:nvSpPr>
          <p:cNvPr id="10" name="矢印1"/>
          <p:cNvSpPr/>
          <p:nvPr/>
        </p:nvSpPr>
        <p:spPr>
          <a:xfrm>
            <a:off x="2584643" y="347472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段の台2"/>
          <p:cNvSpPr/>
          <p:nvPr/>
        </p:nvSpPr>
        <p:spPr>
          <a:xfrm>
            <a:off x="2831531" y="1554480"/>
            <a:ext cx="1962851" cy="420624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番号2"/>
          <p:cNvSpPr/>
          <p:nvPr/>
        </p:nvSpPr>
        <p:spPr>
          <a:xfrm>
            <a:off x="3014411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014411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絵_shiho-koseki-atsume" descr="shiho-koseki-atsu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691" y="2310414"/>
            <a:ext cx="1688531" cy="168853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014411" y="416052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調査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014411" y="466344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書類と現地を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調べる</a:t>
            </a:r>
            <a:endParaRPr lang="en-US" sz="1400" dirty="0"/>
          </a:p>
        </p:txBody>
      </p:sp>
      <p:sp>
        <p:nvSpPr>
          <p:cNvPr id="17" name="矢印2"/>
          <p:cNvSpPr/>
          <p:nvPr/>
        </p:nvSpPr>
        <p:spPr>
          <a:xfrm>
            <a:off x="4867534" y="347472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段の台3"/>
          <p:cNvSpPr/>
          <p:nvPr/>
        </p:nvSpPr>
        <p:spPr>
          <a:xfrm>
            <a:off x="5114422" y="1554480"/>
            <a:ext cx="1962851" cy="420624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番号3"/>
          <p:cNvSpPr/>
          <p:nvPr/>
        </p:nvSpPr>
        <p:spPr>
          <a:xfrm>
            <a:off x="5297302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29730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絵_chousashi-shorui-taba" descr="chousashi-shorui-tab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582" y="2310414"/>
            <a:ext cx="1688531" cy="168853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97302" y="416052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書類づくり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297302" y="466344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申請の書類を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つくる</a:t>
            </a:r>
            <a:endParaRPr lang="en-US" sz="1400" dirty="0"/>
          </a:p>
        </p:txBody>
      </p:sp>
      <p:sp>
        <p:nvSpPr>
          <p:cNvPr id="24" name="矢印3"/>
          <p:cNvSpPr/>
          <p:nvPr/>
        </p:nvSpPr>
        <p:spPr>
          <a:xfrm>
            <a:off x="7150425" y="347472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段の台4"/>
          <p:cNvSpPr/>
          <p:nvPr/>
        </p:nvSpPr>
        <p:spPr>
          <a:xfrm>
            <a:off x="7397313" y="1554480"/>
            <a:ext cx="1962851" cy="420624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番号4"/>
          <p:cNvSpPr/>
          <p:nvPr/>
        </p:nvSpPr>
        <p:spPr>
          <a:xfrm>
            <a:off x="7580193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80193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絵_shiho-houmukyoku-shinsei" descr="shiho-houmukyoku-shinse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473" y="2591836"/>
            <a:ext cx="1688531" cy="112568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80193" y="416052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申請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7580193" y="466344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役所へ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申請する</a:t>
            </a:r>
            <a:endParaRPr lang="en-US" sz="1400" dirty="0"/>
          </a:p>
        </p:txBody>
      </p:sp>
      <p:sp>
        <p:nvSpPr>
          <p:cNvPr id="31" name="矢印4"/>
          <p:cNvSpPr/>
          <p:nvPr/>
        </p:nvSpPr>
        <p:spPr>
          <a:xfrm>
            <a:off x="9433316" y="347472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段の台5"/>
          <p:cNvSpPr/>
          <p:nvPr/>
        </p:nvSpPr>
        <p:spPr>
          <a:xfrm>
            <a:off x="9680204" y="1554480"/>
            <a:ext cx="1962851" cy="420624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番号5"/>
          <p:cNvSpPr/>
          <p:nvPr/>
        </p:nvSpPr>
        <p:spPr>
          <a:xfrm>
            <a:off x="9863084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986308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1800" dirty="0"/>
          </a:p>
        </p:txBody>
      </p:sp>
      <p:pic>
        <p:nvPicPr>
          <p:cNvPr id="35" name="絵_shiho-kanryou-watasu" descr="shiho-kanryou-watas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364" y="2591836"/>
            <a:ext cx="1688531" cy="112568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863084" y="416052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完了の連絡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9863084" y="466344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お客さまに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お渡しする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段1　受付</a:t>
            </a:r>
            <a:endParaRPr lang="en-US" sz="3200" dirty="0"/>
          </a:p>
        </p:txBody>
      </p:sp>
      <p:pic>
        <p:nvPicPr>
          <p:cNvPr id="4" name="絵_shiho-uketsuke" descr="shiho-uketsu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4937760" cy="3291840"/>
          </a:xfrm>
          <a:prstGeom prst="rect">
            <a:avLst/>
          </a:prstGeom>
        </p:spPr>
      </p:pic>
      <p:sp>
        <p:nvSpPr>
          <p:cNvPr id="5" name="項目1"/>
          <p:cNvSpPr/>
          <p:nvPr/>
        </p:nvSpPr>
        <p:spPr>
          <a:xfrm>
            <a:off x="5852160" y="1463040"/>
            <a:ext cx="5790895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35040" y="1463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046720" y="1463040"/>
            <a:ext cx="3413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［例）依頼の内容を聞いて案件の台帳に入れる］</a:t>
            </a:r>
            <a:endParaRPr lang="en-US" sz="1500" dirty="0"/>
          </a:p>
        </p:txBody>
      </p:sp>
      <p:sp>
        <p:nvSpPr>
          <p:cNvPr id="8" name="項目2"/>
          <p:cNvSpPr/>
          <p:nvPr/>
        </p:nvSpPr>
        <p:spPr>
          <a:xfrm>
            <a:off x="5852160" y="2377440"/>
            <a:ext cx="579089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035040" y="2377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受け持つ人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377440"/>
            <a:ext cx="3413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［例）受付の担当］</a:t>
            </a:r>
            <a:endParaRPr lang="en-US" sz="1500" dirty="0"/>
          </a:p>
        </p:txBody>
      </p:sp>
      <p:sp>
        <p:nvSpPr>
          <p:cNvPr id="11" name="項目3"/>
          <p:cNvSpPr/>
          <p:nvPr/>
        </p:nvSpPr>
        <p:spPr>
          <a:xfrm>
            <a:off x="5852160" y="3291840"/>
            <a:ext cx="5790895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035040" y="3291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使う道具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3291840"/>
            <a:ext cx="3413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［例）案件の台帳と電話］</a:t>
            </a:r>
            <a:endParaRPr lang="en-US" sz="1500" dirty="0"/>
          </a:p>
        </p:txBody>
      </p:sp>
      <p:sp>
        <p:nvSpPr>
          <p:cNvPr id="14" name="項目4"/>
          <p:cNvSpPr/>
          <p:nvPr/>
        </p:nvSpPr>
        <p:spPr>
          <a:xfrm>
            <a:off x="5852160" y="4206240"/>
            <a:ext cx="579089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035040" y="4206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目安の日数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046720" y="4206240"/>
            <a:ext cx="3413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［例）当日］</a:t>
            </a:r>
            <a:endParaRPr lang="en-US" sz="1500" dirty="0"/>
          </a:p>
        </p:txBody>
      </p:sp>
      <p:sp>
        <p:nvSpPr>
          <p:cNvPr id="17" name="項目5"/>
          <p:cNvSpPr/>
          <p:nvPr/>
        </p:nvSpPr>
        <p:spPr>
          <a:xfrm>
            <a:off x="5852160" y="5120640"/>
            <a:ext cx="5790895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035040" y="5120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次の段へ渡すもの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046720" y="5120640"/>
            <a:ext cx="3413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［例）聞き取りのメモ］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段ごとの受け持ち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3291840"/>
                <a:gridCol w="24963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段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受け持つ人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使う道具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目安の日数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受付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［受付の担当］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［案件の台帳］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［当日］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調査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［担当］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 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 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書類づくり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［担当］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 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 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申請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［担当］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 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 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完了の連絡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［担当］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 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 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つまずきやすいところ</a:t>
            </a:r>
            <a:endParaRPr lang="en-US" sz="3200" dirty="0"/>
          </a:p>
        </p:txBody>
      </p:sp>
      <p:sp>
        <p:nvSpPr>
          <p:cNvPr id="4" name="カード1"/>
          <p:cNvSpPr/>
          <p:nvPr/>
        </p:nvSpPr>
        <p:spPr>
          <a:xfrm>
            <a:off x="548640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82880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［例）書類が足りない］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97480"/>
            <a:ext cx="290565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起きること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［申請が止まる］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手当て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［受付で一覧表を渡す］</a:t>
            </a:r>
            <a:endParaRPr lang="en-US" sz="1500" dirty="0"/>
          </a:p>
        </p:txBody>
      </p:sp>
      <p:sp>
        <p:nvSpPr>
          <p:cNvPr id="7" name="カード2"/>
          <p:cNvSpPr/>
          <p:nvPr/>
        </p:nvSpPr>
        <p:spPr>
          <a:xfrm>
            <a:off x="4368698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43018" y="182880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［例）連絡が行き違う］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643018" y="2697480"/>
            <a:ext cx="290565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起きること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［同じことを二度聞く］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手当て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［連絡は案件ごとにまとめる］</a:t>
            </a:r>
            <a:endParaRPr lang="en-US" sz="1500" dirty="0"/>
          </a:p>
        </p:txBody>
      </p:sp>
      <p:sp>
        <p:nvSpPr>
          <p:cNvPr id="10" name="カード3"/>
          <p:cNvSpPr/>
          <p:nvPr/>
        </p:nvSpPr>
        <p:spPr>
          <a:xfrm>
            <a:off x="8188757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63077" y="182880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［例）担当が休み］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463077" y="2697480"/>
            <a:ext cx="290565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起きること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［進み具合が分からない］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手当て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［台帳に今の段を書く］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段を終えるときの確かめ</a:t>
            </a:r>
            <a:endParaRPr lang="en-US" sz="3200" dirty="0"/>
          </a:p>
        </p:txBody>
      </p:sp>
      <p:sp>
        <p:nvSpPr>
          <p:cNvPr id="4" name="チェック欄1"/>
          <p:cNvSpPr/>
          <p:nvPr/>
        </p:nvSpPr>
        <p:spPr>
          <a:xfrm>
            <a:off x="640080" y="1664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280160" y="155448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［台帳に今の段を書いた］</a:t>
            </a:r>
            <a:endParaRPr lang="en-US" sz="1800" dirty="0"/>
          </a:p>
        </p:txBody>
      </p:sp>
      <p:sp>
        <p:nvSpPr>
          <p:cNvPr id="6" name="チェック欄2"/>
          <p:cNvSpPr/>
          <p:nvPr/>
        </p:nvSpPr>
        <p:spPr>
          <a:xfrm>
            <a:off x="640080" y="244144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80160" y="233172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［お客さまに次の連絡日を伝えた］</a:t>
            </a:r>
            <a:endParaRPr lang="en-US" sz="1800" dirty="0"/>
          </a:p>
        </p:txBody>
      </p:sp>
      <p:sp>
        <p:nvSpPr>
          <p:cNvPr id="8" name="チェック欄3"/>
          <p:cNvSpPr/>
          <p:nvPr/>
        </p:nvSpPr>
        <p:spPr>
          <a:xfrm>
            <a:off x="640080" y="321868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80160" y="310896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［書類を決まった棚に戻した］</a:t>
            </a:r>
            <a:endParaRPr lang="en-US" sz="1800" dirty="0"/>
          </a:p>
        </p:txBody>
      </p:sp>
      <p:sp>
        <p:nvSpPr>
          <p:cNvPr id="10" name="チェック欄4"/>
          <p:cNvSpPr/>
          <p:nvPr/>
        </p:nvSpPr>
        <p:spPr>
          <a:xfrm>
            <a:off x="640080" y="399592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80160" y="388620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［次の担当にひとこと伝えた］</a:t>
            </a:r>
            <a:endParaRPr lang="en-US" sz="1800" dirty="0"/>
          </a:p>
        </p:txBody>
      </p:sp>
      <p:sp>
        <p:nvSpPr>
          <p:cNvPr id="12" name="チェック欄5"/>
          <p:cNvSpPr/>
          <p:nvPr/>
        </p:nvSpPr>
        <p:spPr>
          <a:xfrm>
            <a:off x="640080" y="47731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80160" y="466344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［期限をカレンダーに入れた］</a:t>
            </a:r>
            <a:endParaRPr lang="en-US" sz="1800" dirty="0"/>
          </a:p>
        </p:txBody>
      </p:sp>
      <p:pic>
        <p:nvPicPr>
          <p:cNvPr id="14" name="絵_chousashi-clipboard" descr="chousashi-clip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91640"/>
            <a:ext cx="3931920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しめの言葉"/>
          <p:cNvSpPr txBox="1"/>
          <p:nvPr/>
        </p:nvSpPr>
        <p:spPr>
          <a:xfrm>
            <a:off x="548640" y="21945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わからないときは聞いてください</a:t>
            </a:r>
            <a:endParaRPr lang="en-US" sz="4000" dirty="0"/>
          </a:p>
        </p:txBody>
      </p:sp>
      <p:sp>
        <p:nvSpPr>
          <p:cNvPr id="3" name="連絡先"/>
          <p:cNvSpPr txBox="1"/>
          <p:nvPr/>
        </p:nvSpPr>
        <p:spPr>
          <a:xfrm>
            <a:off x="548640" y="35661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［相談する人の名前］　［連絡の方法］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hiyama">
  <a:themeElements>
    <a:clrScheme name="Ishiyama">
      <a:dk1>
        <a:srgbClr val="1C1C1E"/>
      </a:dk1>
      <a:lt1>
        <a:srgbClr val="FFFFFF"/>
      </a:lt1>
      <a:dk2>
        <a:srgbClr val="1B3A6B"/>
      </a:dk2>
      <a:lt2>
        <a:srgbClr val="EEF0F3"/>
      </a:lt2>
      <a:accent1>
        <a:srgbClr val="1B3A6B"/>
      </a:accent1>
      <a:accent2>
        <a:srgbClr val="D9A43A"/>
      </a:accent2>
      <a:accent3>
        <a:srgbClr val="5A5F66"/>
      </a:accent3>
      <a:accent4>
        <a:srgbClr val="C5C9CF"/>
      </a:accent4>
      <a:accent5>
        <a:srgbClr val="3F5F8F"/>
      </a:accent5>
      <a:accent6>
        <a:srgbClr val="F4E3B5"/>
      </a:accent6>
      <a:hlink>
        <a:srgbClr val="1B3A6B"/>
      </a:hlink>
      <a:folHlink>
        <a:srgbClr val="5A5F66"/>
      </a:folHlink>
    </a:clrScheme>
    <a:fontScheme name="Ishiyama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石山通りグループ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仕事の流れのひな形</dc:title>
  <dc:subject>PptxGenJS Presentation</dc:subject>
  <dc:creator>石山通りグループ</dc:creator>
  <cp:lastModifiedBy>石山通りグループ</cp:lastModifiedBy>
  <cp:revision>1</cp:revision>
  <dcterms:created xsi:type="dcterms:W3CDTF">2026-10-04T06:11:43Z</dcterms:created>
  <dcterms:modified xsi:type="dcterms:W3CDTF">2026-10-04T06:11:43Z</dcterms:modified>
</cp:coreProperties>
</file>